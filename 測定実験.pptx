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88"/>
  </p:normalViewPr>
  <p:slideViewPr>
    <p:cSldViewPr snapToGrid="0">
      <p:cViewPr varScale="1">
        <p:scale>
          <a:sx n="120" d="100"/>
          <a:sy n="120" d="100"/>
        </p:scale>
        <p:origin x="18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da/Desktop/&#26412;&#22810;&#38651;&#23376;/20261007&#23455;&#39443;&#12486;&#12441;&#12540;&#1247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da/Desktop/&#26412;&#22810;&#38651;&#23376;/20261007&#23455;&#39443;&#12486;&#12441;&#12540;&#12479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da/Desktop/&#26412;&#22810;&#38651;&#23376;/20261007&#23455;&#39443;&#12486;&#12441;&#12540;&#12479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da/Desktop/&#26412;&#22810;&#38651;&#23376;/20261007&#23455;&#39443;&#12486;&#12441;&#12540;&#12479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da/Desktop/&#26412;&#22810;&#38651;&#23376;/20261007&#23455;&#39443;&#12486;&#12441;&#12540;&#12479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前腕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脱力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Sheet1!$A$44:$A$53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Sheet1!$F$44:$F$53</c:f>
              <c:numCache>
                <c:formatCode>General</c:formatCode>
                <c:ptCount val="10"/>
                <c:pt idx="0">
                  <c:v>1572.43</c:v>
                </c:pt>
                <c:pt idx="1">
                  <c:v>1572.21</c:v>
                </c:pt>
                <c:pt idx="2">
                  <c:v>1575.07</c:v>
                </c:pt>
                <c:pt idx="3">
                  <c:v>1572.67</c:v>
                </c:pt>
                <c:pt idx="4">
                  <c:v>1572.16</c:v>
                </c:pt>
                <c:pt idx="5">
                  <c:v>1571.28</c:v>
                </c:pt>
                <c:pt idx="6">
                  <c:v>1575.6</c:v>
                </c:pt>
                <c:pt idx="7">
                  <c:v>1573.03</c:v>
                </c:pt>
                <c:pt idx="8">
                  <c:v>1571.09</c:v>
                </c:pt>
                <c:pt idx="9">
                  <c:v>1571.47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88D-5941-B18F-FAC2F1F3D1BC}"/>
            </c:ext>
          </c:extLst>
        </c:ser>
        <c:ser>
          <c:idx val="1"/>
          <c:order val="1"/>
          <c:tx>
            <c:v>筋収縮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Sheet1!$A$44:$A$53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Sheet1!$G$44:$G$53</c:f>
              <c:numCache>
                <c:formatCode>General</c:formatCode>
                <c:ptCount val="10"/>
                <c:pt idx="0">
                  <c:v>1579.73</c:v>
                </c:pt>
                <c:pt idx="1">
                  <c:v>1579.97</c:v>
                </c:pt>
                <c:pt idx="2">
                  <c:v>1576.94</c:v>
                </c:pt>
                <c:pt idx="3">
                  <c:v>1579.82</c:v>
                </c:pt>
                <c:pt idx="4">
                  <c:v>1579.1</c:v>
                </c:pt>
                <c:pt idx="5">
                  <c:v>1577.73</c:v>
                </c:pt>
                <c:pt idx="6">
                  <c:v>1580.81</c:v>
                </c:pt>
                <c:pt idx="7">
                  <c:v>1577.56</c:v>
                </c:pt>
                <c:pt idx="8">
                  <c:v>1577.56</c:v>
                </c:pt>
                <c:pt idx="9">
                  <c:v>1580.15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88D-5941-B18F-FAC2F1F3D1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0056064"/>
        <c:axId val="740495744"/>
      </c:scatterChart>
      <c:valAx>
        <c:axId val="7400560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40495744"/>
        <c:crosses val="autoZero"/>
        <c:crossBetween val="midCat"/>
      </c:valAx>
      <c:valAx>
        <c:axId val="740495744"/>
        <c:scaling>
          <c:orientation val="minMax"/>
          <c:max val="1585"/>
          <c:min val="15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音速[m/s]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400560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前腕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脱力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Sheet1!$A$5:$A$14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Sheet1!$B$5:$B$14</c:f>
              <c:numCache>
                <c:formatCode>General</c:formatCode>
                <c:ptCount val="10"/>
                <c:pt idx="0">
                  <c:v>1566.98</c:v>
                </c:pt>
                <c:pt idx="1">
                  <c:v>1567.95</c:v>
                </c:pt>
                <c:pt idx="2">
                  <c:v>1569</c:v>
                </c:pt>
                <c:pt idx="3">
                  <c:v>1567.35</c:v>
                </c:pt>
                <c:pt idx="4">
                  <c:v>1566.46</c:v>
                </c:pt>
                <c:pt idx="5">
                  <c:v>1571.91</c:v>
                </c:pt>
                <c:pt idx="6">
                  <c:v>1571.44</c:v>
                </c:pt>
                <c:pt idx="7">
                  <c:v>1569.39</c:v>
                </c:pt>
                <c:pt idx="8">
                  <c:v>1569.82</c:v>
                </c:pt>
                <c:pt idx="9">
                  <c:v>1571.69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06F-1D4D-864D-4A3E178DF7FE}"/>
            </c:ext>
          </c:extLst>
        </c:ser>
        <c:ser>
          <c:idx val="1"/>
          <c:order val="1"/>
          <c:tx>
            <c:v>筋収縮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Sheet1!$A$5:$A$14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Sheet1!$C$5:$C$13</c:f>
              <c:numCache>
                <c:formatCode>General</c:formatCode>
                <c:ptCount val="9"/>
                <c:pt idx="0">
                  <c:v>1577.7</c:v>
                </c:pt>
                <c:pt idx="1">
                  <c:v>1573.33</c:v>
                </c:pt>
                <c:pt idx="2">
                  <c:v>1580.71</c:v>
                </c:pt>
                <c:pt idx="3">
                  <c:v>1578.67</c:v>
                </c:pt>
                <c:pt idx="4">
                  <c:v>1578.2</c:v>
                </c:pt>
                <c:pt idx="5">
                  <c:v>1575.88</c:v>
                </c:pt>
                <c:pt idx="6">
                  <c:v>1579.88</c:v>
                </c:pt>
                <c:pt idx="7">
                  <c:v>1574.56</c:v>
                </c:pt>
                <c:pt idx="8">
                  <c:v>1574.97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06F-1D4D-864D-4A3E178DF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58358848"/>
        <c:axId val="1958361088"/>
      </c:scatterChart>
      <c:valAx>
        <c:axId val="1958358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958361088"/>
        <c:crosses val="autoZero"/>
        <c:crossBetween val="midCat"/>
      </c:valAx>
      <c:valAx>
        <c:axId val="1958361088"/>
        <c:scaling>
          <c:orientation val="minMax"/>
          <c:max val="1585"/>
          <c:min val="15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音速[m/s]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195835884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ふくらはぎ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脱力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Sheet1!$A$44:$A$54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Sheet1!$B$44:$B$53</c:f>
              <c:numCache>
                <c:formatCode>General</c:formatCode>
                <c:ptCount val="10"/>
                <c:pt idx="0">
                  <c:v>1568.79</c:v>
                </c:pt>
                <c:pt idx="1">
                  <c:v>1567.82</c:v>
                </c:pt>
                <c:pt idx="2">
                  <c:v>1568.06</c:v>
                </c:pt>
                <c:pt idx="3">
                  <c:v>1567.8</c:v>
                </c:pt>
                <c:pt idx="4">
                  <c:v>1568.65</c:v>
                </c:pt>
                <c:pt idx="5">
                  <c:v>1569</c:v>
                </c:pt>
                <c:pt idx="6">
                  <c:v>1566.6</c:v>
                </c:pt>
                <c:pt idx="7">
                  <c:v>1568.23</c:v>
                </c:pt>
                <c:pt idx="8">
                  <c:v>1570.07</c:v>
                </c:pt>
                <c:pt idx="9">
                  <c:v>1569.07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571-AB42-94AD-48A6284DE63F}"/>
            </c:ext>
          </c:extLst>
        </c:ser>
        <c:ser>
          <c:idx val="1"/>
          <c:order val="1"/>
          <c:tx>
            <c:v>筋収縮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Sheet1!$A$44:$A$54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</c:numCache>
            </c:numRef>
          </c:xVal>
          <c:yVal>
            <c:numRef>
              <c:f>Sheet1!$D$44:$D$53</c:f>
              <c:numCache>
                <c:formatCode>General</c:formatCode>
                <c:ptCount val="10"/>
                <c:pt idx="0">
                  <c:v>1572.46</c:v>
                </c:pt>
                <c:pt idx="1">
                  <c:v>1571.64</c:v>
                </c:pt>
                <c:pt idx="2">
                  <c:v>1571.61</c:v>
                </c:pt>
                <c:pt idx="3">
                  <c:v>1571.61</c:v>
                </c:pt>
                <c:pt idx="4">
                  <c:v>1569.42</c:v>
                </c:pt>
                <c:pt idx="5">
                  <c:v>1570.97</c:v>
                </c:pt>
                <c:pt idx="6">
                  <c:v>1569.29</c:v>
                </c:pt>
                <c:pt idx="7">
                  <c:v>1570.92</c:v>
                </c:pt>
                <c:pt idx="8">
                  <c:v>1570.03</c:v>
                </c:pt>
                <c:pt idx="9">
                  <c:v>1568.99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571-AB42-94AD-48A6284DE6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40187584"/>
        <c:axId val="740189376"/>
      </c:scatterChart>
      <c:valAx>
        <c:axId val="740187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40189376"/>
        <c:crosses val="autoZero"/>
        <c:crossBetween val="midCat"/>
      </c:valAx>
      <c:valAx>
        <c:axId val="740189376"/>
        <c:scaling>
          <c:orientation val="minMax"/>
          <c:max val="1585"/>
          <c:min val="155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音速[m/s]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4018758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挟む強さ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Sheet1!$I$43:$K$43</c:f>
              <c:strCache>
                <c:ptCount val="3"/>
                <c:pt idx="0">
                  <c:v>軽く当てる</c:v>
                </c:pt>
                <c:pt idx="1">
                  <c:v>ちょっと押し込む</c:v>
                </c:pt>
                <c:pt idx="2">
                  <c:v>かなり強く押し込む</c:v>
                </c:pt>
              </c:strCache>
            </c:strRef>
          </c:cat>
          <c:val>
            <c:numRef>
              <c:f>Sheet1!$I$46:$K$46</c:f>
              <c:numCache>
                <c:formatCode>General</c:formatCode>
                <c:ptCount val="3"/>
                <c:pt idx="0">
                  <c:v>1573.04</c:v>
                </c:pt>
                <c:pt idx="1">
                  <c:v>1571.99</c:v>
                </c:pt>
                <c:pt idx="2">
                  <c:v>1565.6599999999999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44-A747-9699-14F7058114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65942400"/>
        <c:axId val="835685888"/>
      </c:lineChart>
      <c:catAx>
        <c:axId val="865942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835685888"/>
        <c:crosses val="autoZero"/>
        <c:auto val="1"/>
        <c:lblAlgn val="ctr"/>
        <c:lblOffset val="100"/>
        <c:noMultiLvlLbl val="0"/>
      </c:catAx>
      <c:valAx>
        <c:axId val="835685888"/>
        <c:scaling>
          <c:orientation val="minMax"/>
          <c:max val="158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865942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真鍮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JP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Sheet1!$A$18:$A$27</c:f>
              <c:numCache>
                <c:formatCode>General</c:formatCod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numCache>
            </c:numRef>
          </c:xVal>
          <c:yVal>
            <c:numRef>
              <c:f>Sheet1!$H$18:$H$27</c:f>
              <c:numCache>
                <c:formatCode>General</c:formatCode>
                <c:ptCount val="10"/>
                <c:pt idx="0">
                  <c:v>4387.79</c:v>
                </c:pt>
                <c:pt idx="1">
                  <c:v>4382.84</c:v>
                </c:pt>
                <c:pt idx="2">
                  <c:v>4389.68</c:v>
                </c:pt>
                <c:pt idx="3">
                  <c:v>4385.53</c:v>
                </c:pt>
                <c:pt idx="4">
                  <c:v>4384.92</c:v>
                </c:pt>
                <c:pt idx="5">
                  <c:v>4383.0600000000004</c:v>
                </c:pt>
                <c:pt idx="6">
                  <c:v>4383.47</c:v>
                </c:pt>
                <c:pt idx="7">
                  <c:v>4381.6099999999997</c:v>
                </c:pt>
                <c:pt idx="8">
                  <c:v>4384.92</c:v>
                </c:pt>
                <c:pt idx="9">
                  <c:v>4382.43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852-2647-BA5B-CAED3D521A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39693824"/>
        <c:axId val="739697408"/>
      </c:scatterChart>
      <c:valAx>
        <c:axId val="7396938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39697408"/>
        <c:crosses val="autoZero"/>
        <c:crossBetween val="midCat"/>
      </c:valAx>
      <c:valAx>
        <c:axId val="739697408"/>
        <c:scaling>
          <c:orientation val="minMax"/>
          <c:max val="4400"/>
          <c:min val="43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音速[m/s]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JP"/>
          </a:p>
        </c:txPr>
        <c:crossAx val="73969382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D2963-934F-C704-FC7C-E18167922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A8D37A-10D6-2C90-182D-856388595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DA016-A42F-E4F9-684E-07153C3C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1E776-862C-7784-E6EF-C837AA62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993C3-7626-6B41-ED3A-5F533A2A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4699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D3C65-69E4-E81C-98D6-01E80004C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FB36A-3C0F-0778-8BC9-3CE225FB6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1A40E-F54C-A8E5-78E9-F310570D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C948D-3CFA-3207-37EA-632DC4E2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9519C-33CA-59E8-16DD-13DA36CC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97480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0267B-11DF-E371-8ED2-2DB0291ED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89DC3-8479-56E8-4B09-CC8E5208E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4A90-4F2E-6688-0636-AA43AE9A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17BEB-C75F-2F63-DF10-D15599A8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C07F-20AC-9878-8D2A-CFE0BFB3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22332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2A2D0-9086-6871-032C-B78D10BC8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0525-6BA2-2F97-0D44-49206B3AF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DF35F-E4E0-9B13-54FE-1C029785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B0051-E64F-4E2A-EF21-81DDDE9E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CC406-0D5E-F579-58E3-B6F40B8C3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FE017-BC4D-A593-0987-72DCDD95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5090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20FC-DD13-C8FE-13B6-0DE99F85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AD80-E30C-0B82-2D7E-1887144AF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11C5A-B375-A100-CC5C-12641CADE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A5AD14-F933-0E11-1DF6-563C5858A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ECC099-27B2-19B8-4B18-6533F54D24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146FF1-C0B0-E5E6-81DD-AC4976C2B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C570C1-60C7-3140-B467-725B49C5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EC4E6-56AA-68AB-30F2-23A294DD1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347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2350-95AE-613A-046F-9D973E7B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D000C-22EC-8756-B9DA-0230A2AD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B4C78D-669E-0886-48B2-485B471A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E5B96D-374F-C99C-47E6-C9EC58D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31892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178DBE-E94E-DA93-1407-12E30CE5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6E4F3-648A-1228-DDDC-387FEB07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9034E-BA7F-E452-6CDB-8DB8C277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8722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7135-0C68-570C-F192-60DA12D9D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DFAD-9E70-7B4A-4D43-63711BDD6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12D4C-E696-1967-FABE-34187BE03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03295-F08A-9516-B38D-E56D535C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612E2-E8D4-C204-9A2D-AE2F9B5F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3B46C-F93E-2363-AAEC-E406D6EDF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4753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78ADA-6F65-6A81-61EA-6D04B54A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4D8DF7-874F-02BF-404A-5D7C4DAA1C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C0EBD-A871-98BD-D132-22966E19A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54548-0ACC-C57A-82FB-154EB4CED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C953E-C7C4-1D76-4D68-0159D0B8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59331-78C5-0D7B-AE21-3FF43FE5B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2965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FBD8-2D21-724E-5355-526AD1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BD592-1A34-2E36-D0A4-8BD244FA1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E76EA-7D9E-B79B-F4DB-5244D8BE4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F0A32-2DB7-E8DC-1E7A-6AA567097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5F3BD-DEC7-DBF1-111D-08E80815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313812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5DB623-81A4-1FC5-B29A-55CC447B7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5D935-8DBB-D17D-15E7-06FE75AEB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7E51-0DDB-C3EF-D2E1-C17E306A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D77D-2730-031E-3795-8360AAD9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0ABE6-1FBB-A884-4619-2DF29041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21178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94B7B-0C0B-EE49-6E94-E5BCD8B1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294DC-021B-20FF-9033-FB157FBA2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587C1-E59B-27BC-5383-46E7946A7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87BF9-C1A1-A347-8B78-A5CE2122A331}" type="datetimeFigureOut">
              <a:rPr lang="en-JP" smtClean="0"/>
              <a:t>2026/10/07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9DB84-6578-C1BE-0EA5-D7FC854EA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C93FC-2F02-8EEE-E949-B88707329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D3B0C-E142-744D-966E-5CA7FC94F782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7938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4EAA-D6CD-BE2F-ECFF-8A280383A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音速測定ノギス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実験結果</a:t>
            </a:r>
            <a:endParaRPr lang="en-JP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C631D-F105-9BD1-B585-49041CBAB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2026/10/07</a:t>
            </a:r>
          </a:p>
          <a:p>
            <a:endParaRPr lang="en-J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98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F1B8-A3BC-66C4-226B-F01AE69F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16F4-A4E4-5E71-9556-BB910CB1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03" y="-26266"/>
            <a:ext cx="10515600" cy="1325563"/>
          </a:xfrm>
        </p:spPr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前腕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E58CA-5722-58D4-A459-066857B24001}"/>
              </a:ext>
            </a:extLst>
          </p:cNvPr>
          <p:cNvSpPr txBox="1"/>
          <p:nvPr/>
        </p:nvSpPr>
        <p:spPr>
          <a:xfrm>
            <a:off x="2438197" y="5451957"/>
            <a:ext cx="433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大体の同じぐらいの位置で測定(感覚)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8FB0D2-1887-62D7-22C2-3070059A7A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3660390"/>
              </p:ext>
            </p:extLst>
          </p:nvPr>
        </p:nvGraphicFramePr>
        <p:xfrm>
          <a:off x="7162256" y="951030"/>
          <a:ext cx="4514065" cy="444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962E4BC-AE48-BDE6-767D-E0DB867FDCD9}"/>
              </a:ext>
            </a:extLst>
          </p:cNvPr>
          <p:cNvSpPr txBox="1"/>
          <p:nvPr/>
        </p:nvSpPr>
        <p:spPr>
          <a:xfrm>
            <a:off x="7587185" y="5394378"/>
            <a:ext cx="3935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油性マーカーで計測位置を決め、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同じ地点を測定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5B3D340-EA65-1841-1A05-1F30270F9D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699568"/>
              </p:ext>
            </p:extLst>
          </p:nvPr>
        </p:nvGraphicFramePr>
        <p:xfrm>
          <a:off x="2128714" y="951030"/>
          <a:ext cx="4506939" cy="4504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9F4599-D406-F448-58A1-D52FEEE593B3}"/>
              </a:ext>
            </a:extLst>
          </p:cNvPr>
          <p:cNvSpPr txBox="1"/>
          <p:nvPr/>
        </p:nvSpPr>
        <p:spPr>
          <a:xfrm>
            <a:off x="5223263" y="6248202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位置を固定することで計測値が安定</a:t>
            </a:r>
          </a:p>
        </p:txBody>
      </p:sp>
    </p:spTree>
    <p:extLst>
      <p:ext uri="{BB962C8B-B14F-4D97-AF65-F5344CB8AC3E}">
        <p14:creationId xmlns:p14="http://schemas.microsoft.com/office/powerpoint/2010/main" val="383324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4B054-294A-2CFF-6135-4BCA8895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6360-305B-1C86-53A9-CADA895A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ふくらはぎ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9FFA945-977B-2C8C-084D-679AB3862E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8822065"/>
              </p:ext>
            </p:extLst>
          </p:nvPr>
        </p:nvGraphicFramePr>
        <p:xfrm>
          <a:off x="838200" y="1207327"/>
          <a:ext cx="4512715" cy="4443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BC743C-387D-4B1B-428A-56778D58A12B}"/>
              </a:ext>
            </a:extLst>
          </p:cNvPr>
          <p:cNvSpPr txBox="1"/>
          <p:nvPr/>
        </p:nvSpPr>
        <p:spPr>
          <a:xfrm>
            <a:off x="1270468" y="5650673"/>
            <a:ext cx="39356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油性マーカーで計測位置を決め、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同じ地点を測定</a:t>
            </a:r>
          </a:p>
        </p:txBody>
      </p:sp>
    </p:spTree>
    <p:extLst>
      <p:ext uri="{BB962C8B-B14F-4D97-AF65-F5344CB8AC3E}">
        <p14:creationId xmlns:p14="http://schemas.microsoft.com/office/powerpoint/2010/main" val="1037329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43B71-B0AD-C392-3559-A9B2FFAB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4943-8663-083D-CD77-651B8A8BB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挟む強さ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18F9411-8736-52DE-7710-6349A5BAE1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8049841"/>
              </p:ext>
            </p:extLst>
          </p:nvPr>
        </p:nvGraphicFramePr>
        <p:xfrm>
          <a:off x="838200" y="1119995"/>
          <a:ext cx="4591204" cy="46180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502AB8-A343-6C67-7439-2890E8D690F5}"/>
              </a:ext>
            </a:extLst>
          </p:cNvPr>
          <p:cNvSpPr txBox="1"/>
          <p:nvPr/>
        </p:nvSpPr>
        <p:spPr>
          <a:xfrm>
            <a:off x="6096000" y="2653665"/>
            <a:ext cx="54938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挟む強さによって測定できる音速が変化する</a:t>
            </a:r>
          </a:p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→できるだけ一定の強さで押さえつけて測定する</a:t>
            </a:r>
          </a:p>
          <a:p>
            <a:endParaRPr lang="en-JP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挟む力が小さすぎるとセンサ面が皮膚に完全に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接触せず、正しい測定ができないので適切な強さで</a:t>
            </a:r>
            <a:b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</a:br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挟んで測定する</a:t>
            </a:r>
          </a:p>
        </p:txBody>
      </p:sp>
    </p:spTree>
    <p:extLst>
      <p:ext uri="{BB962C8B-B14F-4D97-AF65-F5344CB8AC3E}">
        <p14:creationId xmlns:p14="http://schemas.microsoft.com/office/powerpoint/2010/main" val="1724255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D9C5-8A3F-2B5E-55FB-7C2146289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真鍮塊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2869BC-56B2-5279-2C8F-3F2D30123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848489"/>
              </p:ext>
            </p:extLst>
          </p:nvPr>
        </p:nvGraphicFramePr>
        <p:xfrm>
          <a:off x="630245" y="1207326"/>
          <a:ext cx="4517295" cy="4443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21924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68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HGMaruGothicMPRO</vt:lpstr>
      <vt:lpstr>Aptos</vt:lpstr>
      <vt:lpstr>Aptos Display</vt:lpstr>
      <vt:lpstr>Arial</vt:lpstr>
      <vt:lpstr>Times New Roman</vt:lpstr>
      <vt:lpstr>Office Theme</vt:lpstr>
      <vt:lpstr>音速測定ノギス 実験結果</vt:lpstr>
      <vt:lpstr>前腕</vt:lpstr>
      <vt:lpstr>ふくらはぎ</vt:lpstr>
      <vt:lpstr>挟む強さ</vt:lpstr>
      <vt:lpstr>真鍮塊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油田 崚市</dc:creator>
  <cp:lastModifiedBy>油田 崚市</cp:lastModifiedBy>
  <cp:revision>3</cp:revision>
  <dcterms:created xsi:type="dcterms:W3CDTF">2026-10-07T05:37:59Z</dcterms:created>
  <dcterms:modified xsi:type="dcterms:W3CDTF">2026-10-07T06:48:59Z</dcterms:modified>
</cp:coreProperties>
</file>