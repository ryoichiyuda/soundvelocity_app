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0" r:id="rId3"/>
    <p:sldId id="259" r:id="rId4"/>
    <p:sldId id="258" r:id="rId5"/>
    <p:sldId id="261" r:id="rId6"/>
    <p:sldId id="262" r:id="rId7"/>
    <p:sldId id="263" r:id="rId8"/>
    <p:sldId id="264" r:id="rId9"/>
    <p:sldId id="265" r:id="rId10"/>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688"/>
  </p:normalViewPr>
  <p:slideViewPr>
    <p:cSldViewPr snapToGrid="0">
      <p:cViewPr varScale="1">
        <p:scale>
          <a:sx n="120" d="100"/>
          <a:sy n="120" d="100"/>
        </p:scale>
        <p:origin x="184"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AEB99-665F-6DD4-5FEF-0F4404E5C9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AE5750B9-490C-A8C5-EEFA-7C8939F00A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8E0F1A9F-C5FD-8615-D551-8BBDFF229CFB}"/>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5" name="Footer Placeholder 4">
            <a:extLst>
              <a:ext uri="{FF2B5EF4-FFF2-40B4-BE49-F238E27FC236}">
                <a16:creationId xmlns:a16="http://schemas.microsoft.com/office/drawing/2014/main" id="{94D545BB-E88E-8572-1BEB-67841C61D4D2}"/>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1E71C352-2C6E-450A-8D90-4F25F2DDDB22}"/>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2283031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8337B-0305-6F47-48BC-636222B32D36}"/>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9FB6AF25-709B-EF55-832A-BEE6D3EBF4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999F9337-A2A8-E15D-37E3-32D8AC237AF0}"/>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5" name="Footer Placeholder 4">
            <a:extLst>
              <a:ext uri="{FF2B5EF4-FFF2-40B4-BE49-F238E27FC236}">
                <a16:creationId xmlns:a16="http://schemas.microsoft.com/office/drawing/2014/main" id="{BC35B73D-3CC1-6466-D743-9440005D940C}"/>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42F018D7-AA47-B87F-23CA-980154EA82AD}"/>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3867116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43888-B21E-C33E-BD3D-4667A43B9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532299D3-EDD1-CF71-8148-A5E6680762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1B69CC-FC8E-0083-4914-F68034A49868}"/>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5" name="Footer Placeholder 4">
            <a:extLst>
              <a:ext uri="{FF2B5EF4-FFF2-40B4-BE49-F238E27FC236}">
                <a16:creationId xmlns:a16="http://schemas.microsoft.com/office/drawing/2014/main" id="{6B94F85C-FF06-3F79-1582-92F0EF37C06C}"/>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5810545-7CF1-6B07-BEE4-E7303782AA62}"/>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312062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4698F-CA6B-0CBE-A569-9E690FDD0EFE}"/>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DEE43A25-0BE9-1010-7DCC-0F5B279B40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4434D246-0280-C0CD-65ED-58757C8290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61CA8D2D-7EAA-0689-EDB3-CF4C85F45F13}"/>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6" name="Footer Placeholder 5">
            <a:extLst>
              <a:ext uri="{FF2B5EF4-FFF2-40B4-BE49-F238E27FC236}">
                <a16:creationId xmlns:a16="http://schemas.microsoft.com/office/drawing/2014/main" id="{AFDCD258-AADC-EBBC-AE09-F4BE6BEF5D80}"/>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1815E68F-16AC-6778-D2C9-25C806E4F8B5}"/>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4275386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C9EBF-A843-7F44-469B-D45A75FECCC6}"/>
              </a:ext>
            </a:extLst>
          </p:cNvPr>
          <p:cNvSpPr>
            <a:spLocks noGrp="1"/>
          </p:cNvSpPr>
          <p:nvPr>
            <p:ph type="title"/>
          </p:nvPr>
        </p:nvSpPr>
        <p:spPr>
          <a:xfrm>
            <a:off x="839788" y="365125"/>
            <a:ext cx="105156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0507E1DA-7E4F-D405-928B-C9A89EB354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7B2BD7-1E09-3E69-B063-7FC33E8937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3289AEEE-1F29-059F-C8E6-A9ED8E713C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F2DE80-13FE-64B7-5C5F-48F16BA61A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ADE1D0A6-E3CE-E605-0C31-C3B61CF83ECD}"/>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8" name="Footer Placeholder 7">
            <a:extLst>
              <a:ext uri="{FF2B5EF4-FFF2-40B4-BE49-F238E27FC236}">
                <a16:creationId xmlns:a16="http://schemas.microsoft.com/office/drawing/2014/main" id="{999A6B74-81FD-3465-282E-2B25C972EFB6}"/>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C85575FC-925D-E4B7-03EB-B6AA3B284D90}"/>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480828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FC54B-0BED-96EB-09AF-E0A7BE863075}"/>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66B44B35-A4D5-2281-F1E4-24B92FC9882A}"/>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4" name="Footer Placeholder 3">
            <a:extLst>
              <a:ext uri="{FF2B5EF4-FFF2-40B4-BE49-F238E27FC236}">
                <a16:creationId xmlns:a16="http://schemas.microsoft.com/office/drawing/2014/main" id="{DE290EA8-EE73-A15A-45CD-EE6B96CC8FFD}"/>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F487846E-4AA4-68C6-41A8-AEFADAD1E36E}"/>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1502328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2415A5-51DE-5A73-2C3E-0187EC99CABD}"/>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3" name="Footer Placeholder 2">
            <a:extLst>
              <a:ext uri="{FF2B5EF4-FFF2-40B4-BE49-F238E27FC236}">
                <a16:creationId xmlns:a16="http://schemas.microsoft.com/office/drawing/2014/main" id="{1B964551-BBC9-6CFB-3A9C-9EDE0EB45553}"/>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AF57145A-605A-FB5E-2A32-040C6A722AA2}"/>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1520187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B8B88-5803-83CA-4AD3-060C569B7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053F8A3C-B5A6-EBE1-E05F-0AB14614A6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89AF9D65-7746-4278-2C8E-4D64A707E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B5DE4F-38ED-70C7-9458-0C7BDCDD373F}"/>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6" name="Footer Placeholder 5">
            <a:extLst>
              <a:ext uri="{FF2B5EF4-FFF2-40B4-BE49-F238E27FC236}">
                <a16:creationId xmlns:a16="http://schemas.microsoft.com/office/drawing/2014/main" id="{77035B52-493E-C230-6C39-B8EA7D4BFB9E}"/>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DBF19E55-8A29-8683-5B0B-2F0933666140}"/>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2894186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A2916-2633-F0C6-C7AF-67318D92B4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A9D7384F-5268-BCED-6128-8562C31BDA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32B03991-4C72-EB97-2049-366F8A2D34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0D25FD-4343-5B90-99A9-386893F82C0F}"/>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6" name="Footer Placeholder 5">
            <a:extLst>
              <a:ext uri="{FF2B5EF4-FFF2-40B4-BE49-F238E27FC236}">
                <a16:creationId xmlns:a16="http://schemas.microsoft.com/office/drawing/2014/main" id="{18556CC5-9B9A-3DD4-6C2B-36666F5FF680}"/>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5A0BFC6C-246B-8A20-7852-FBAE673BBC24}"/>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3844925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FB9AC-382D-311C-B2BD-BCC5BF493674}"/>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12FBFEAC-A55B-2970-7A3C-FC278159D3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10A853B5-07FF-DD41-3A07-FABCC0DBC57F}"/>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5" name="Footer Placeholder 4">
            <a:extLst>
              <a:ext uri="{FF2B5EF4-FFF2-40B4-BE49-F238E27FC236}">
                <a16:creationId xmlns:a16="http://schemas.microsoft.com/office/drawing/2014/main" id="{8239ECEE-ECA5-EE70-856E-810F309261BE}"/>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08B81427-ADFD-AF7B-032E-ED08596FB97E}"/>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1610107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AD531-5131-2C5D-C49C-AFE4765FB7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5DF7E561-96C2-594C-F2CA-D7FA177090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35EF3797-2A8E-476D-724C-33ADC2BA1C2D}"/>
              </a:ext>
            </a:extLst>
          </p:cNvPr>
          <p:cNvSpPr>
            <a:spLocks noGrp="1"/>
          </p:cNvSpPr>
          <p:nvPr>
            <p:ph type="dt" sz="half" idx="10"/>
          </p:nvPr>
        </p:nvSpPr>
        <p:spPr/>
        <p:txBody>
          <a:bodyPr/>
          <a:lstStyle/>
          <a:p>
            <a:fld id="{48FCBA90-F00D-084B-B78C-1EDCBF78D159}" type="datetimeFigureOut">
              <a:rPr lang="en-JP" smtClean="0"/>
              <a:t>2026/10/07</a:t>
            </a:fld>
            <a:endParaRPr lang="en-JP"/>
          </a:p>
        </p:txBody>
      </p:sp>
      <p:sp>
        <p:nvSpPr>
          <p:cNvPr id="5" name="Footer Placeholder 4">
            <a:extLst>
              <a:ext uri="{FF2B5EF4-FFF2-40B4-BE49-F238E27FC236}">
                <a16:creationId xmlns:a16="http://schemas.microsoft.com/office/drawing/2014/main" id="{8C07E1DD-F2A8-1729-D06A-FE41BB599E2D}"/>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B10BC63-B4F9-F272-33B9-52225718BFE2}"/>
              </a:ext>
            </a:extLst>
          </p:cNvPr>
          <p:cNvSpPr>
            <a:spLocks noGrp="1"/>
          </p:cNvSpPr>
          <p:nvPr>
            <p:ph type="sldNum" sz="quarter" idx="12"/>
          </p:nvPr>
        </p:nvSpPr>
        <p:spPr/>
        <p:txBody>
          <a:bodyPr/>
          <a:lstStyle/>
          <a:p>
            <a:fld id="{3B44196B-F1D3-684E-9738-6C0F7609FE10}" type="slidenum">
              <a:rPr lang="en-JP" smtClean="0"/>
              <a:t>‹#›</a:t>
            </a:fld>
            <a:endParaRPr lang="en-JP"/>
          </a:p>
        </p:txBody>
      </p:sp>
    </p:spTree>
    <p:extLst>
      <p:ext uri="{BB962C8B-B14F-4D97-AF65-F5344CB8AC3E}">
        <p14:creationId xmlns:p14="http://schemas.microsoft.com/office/powerpoint/2010/main" val="3646419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5CA551-1128-6811-FCC2-49B1B7EF55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3F0F422A-15AA-D52E-69B1-397AFC7F2E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DA54A035-EAF7-E6E0-E09A-3244FBCCE6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FCBA90-F00D-084B-B78C-1EDCBF78D159}" type="datetimeFigureOut">
              <a:rPr lang="en-JP" smtClean="0"/>
              <a:t>2026/10/07</a:t>
            </a:fld>
            <a:endParaRPr lang="en-JP"/>
          </a:p>
        </p:txBody>
      </p:sp>
      <p:sp>
        <p:nvSpPr>
          <p:cNvPr id="5" name="Footer Placeholder 4">
            <a:extLst>
              <a:ext uri="{FF2B5EF4-FFF2-40B4-BE49-F238E27FC236}">
                <a16:creationId xmlns:a16="http://schemas.microsoft.com/office/drawing/2014/main" id="{D22D51AC-BF12-168B-21E2-773F1EAA7B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JP"/>
          </a:p>
        </p:txBody>
      </p:sp>
      <p:sp>
        <p:nvSpPr>
          <p:cNvPr id="6" name="Slide Number Placeholder 5">
            <a:extLst>
              <a:ext uri="{FF2B5EF4-FFF2-40B4-BE49-F238E27FC236}">
                <a16:creationId xmlns:a16="http://schemas.microsoft.com/office/drawing/2014/main" id="{F910098C-BCD2-30A1-6272-E6A0771793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44196B-F1D3-684E-9738-6C0F7609FE10}" type="slidenum">
              <a:rPr lang="en-JP" smtClean="0"/>
              <a:t>‹#›</a:t>
            </a:fld>
            <a:endParaRPr lang="en-JP"/>
          </a:p>
        </p:txBody>
      </p:sp>
    </p:spTree>
    <p:extLst>
      <p:ext uri="{BB962C8B-B14F-4D97-AF65-F5344CB8AC3E}">
        <p14:creationId xmlns:p14="http://schemas.microsoft.com/office/powerpoint/2010/main" val="18928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E27E1-5C8F-5F4F-5564-402E2AA42A98}"/>
              </a:ext>
            </a:extLst>
          </p:cNvPr>
          <p:cNvSpPr>
            <a:spLocks noGrp="1"/>
          </p:cNvSpPr>
          <p:nvPr>
            <p:ph type="ctrTitle"/>
          </p:nvPr>
        </p:nvSpPr>
        <p:spPr/>
        <p:txBody>
          <a:bodyPr/>
          <a:lstStyle/>
          <a:p>
            <a:r>
              <a:rPr lang="en-JP" dirty="0">
                <a:latin typeface="HGMaruGothicMPRO" panose="020F0600000000000000" pitchFamily="34" charset="-128"/>
                <a:ea typeface="HGMaruGothicMPRO" panose="020F0600000000000000" pitchFamily="34" charset="-128"/>
              </a:rPr>
              <a:t>音速測定ノギス</a:t>
            </a:r>
            <a:br>
              <a:rPr lang="en-JP" dirty="0">
                <a:latin typeface="HGMaruGothicMPRO" panose="020F0600000000000000" pitchFamily="34" charset="-128"/>
                <a:ea typeface="HGMaruGothicMPRO" panose="020F0600000000000000" pitchFamily="34" charset="-128"/>
              </a:rPr>
            </a:br>
            <a:r>
              <a:rPr lang="en-JP" dirty="0">
                <a:latin typeface="HGMaruGothicMPRO" panose="020F0600000000000000" pitchFamily="34" charset="-128"/>
                <a:ea typeface="HGMaruGothicMPRO" panose="020F0600000000000000" pitchFamily="34" charset="-128"/>
              </a:rPr>
              <a:t>使い方</a:t>
            </a:r>
          </a:p>
        </p:txBody>
      </p:sp>
      <p:sp>
        <p:nvSpPr>
          <p:cNvPr id="3" name="Subtitle 2">
            <a:extLst>
              <a:ext uri="{FF2B5EF4-FFF2-40B4-BE49-F238E27FC236}">
                <a16:creationId xmlns:a16="http://schemas.microsoft.com/office/drawing/2014/main" id="{A84D9E1B-EA29-3AF7-2422-0E5249533D25}"/>
              </a:ext>
            </a:extLst>
          </p:cNvPr>
          <p:cNvSpPr>
            <a:spLocks noGrp="1"/>
          </p:cNvSpPr>
          <p:nvPr>
            <p:ph type="subTitle" idx="1"/>
          </p:nvPr>
        </p:nvSpPr>
        <p:spPr/>
        <p:txBody>
          <a:bodyPr/>
          <a:lstStyle/>
          <a:p>
            <a:r>
              <a:rPr lang="en-JP" dirty="0">
                <a:latin typeface="Times New Roman" panose="02020603050405020304" pitchFamily="18" charset="0"/>
                <a:cs typeface="Times New Roman" panose="02020603050405020304" pitchFamily="18" charset="0"/>
              </a:rPr>
              <a:t>2026/09/10</a:t>
            </a:r>
          </a:p>
        </p:txBody>
      </p:sp>
    </p:spTree>
    <p:extLst>
      <p:ext uri="{BB962C8B-B14F-4D97-AF65-F5344CB8AC3E}">
        <p14:creationId xmlns:p14="http://schemas.microsoft.com/office/powerpoint/2010/main" val="1308723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EBEF-7355-5AAB-9B60-2E2FF6DBF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F3ED0-310B-7900-FB92-673A4E4DC4C7}"/>
              </a:ext>
            </a:extLst>
          </p:cNvPr>
          <p:cNvSpPr>
            <a:spLocks noGrp="1"/>
          </p:cNvSpPr>
          <p:nvPr>
            <p:ph type="title"/>
          </p:nvPr>
        </p:nvSpPr>
        <p:spPr/>
        <p:txBody>
          <a:bodyPr/>
          <a:lstStyle/>
          <a:p>
            <a:r>
              <a:rPr lang="en-JP" dirty="0">
                <a:latin typeface="HGMaruGothicMPRO" panose="020F0600000000000000" pitchFamily="34" charset="-128"/>
                <a:ea typeface="HGMaruGothicMPRO" panose="020F0600000000000000" pitchFamily="34" charset="-128"/>
              </a:rPr>
              <a:t>配線の接続</a:t>
            </a:r>
          </a:p>
        </p:txBody>
      </p:sp>
      <p:pic>
        <p:nvPicPr>
          <p:cNvPr id="5" name="Content Placeholder 4">
            <a:extLst>
              <a:ext uri="{FF2B5EF4-FFF2-40B4-BE49-F238E27FC236}">
                <a16:creationId xmlns:a16="http://schemas.microsoft.com/office/drawing/2014/main" id="{31A72E39-2FAF-7442-A8C2-470EBF25BBC3}"/>
              </a:ext>
            </a:extLst>
          </p:cNvPr>
          <p:cNvPicPr>
            <a:picLocks noGrp="1" noChangeAspect="1"/>
          </p:cNvPicPr>
          <p:nvPr>
            <p:ph idx="1"/>
          </p:nvPr>
        </p:nvPicPr>
        <p:blipFill>
          <a:blip r:embed="rId2"/>
          <a:stretch>
            <a:fillRect/>
          </a:stretch>
        </p:blipFill>
        <p:spPr>
          <a:xfrm>
            <a:off x="1216572" y="1457763"/>
            <a:ext cx="5801784" cy="4351338"/>
          </a:xfrm>
          <a:prstGeom prst="rect">
            <a:avLst/>
          </a:prstGeom>
        </p:spPr>
      </p:pic>
    </p:spTree>
    <p:extLst>
      <p:ext uri="{BB962C8B-B14F-4D97-AF65-F5344CB8AC3E}">
        <p14:creationId xmlns:p14="http://schemas.microsoft.com/office/powerpoint/2010/main" val="2522858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A1BB-F90A-9BCC-46BD-003419288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34F77-56F9-01AE-5CB5-FC61E36DF349}"/>
              </a:ext>
            </a:extLst>
          </p:cNvPr>
          <p:cNvSpPr>
            <a:spLocks noGrp="1"/>
          </p:cNvSpPr>
          <p:nvPr>
            <p:ph type="title"/>
          </p:nvPr>
        </p:nvSpPr>
        <p:spPr/>
        <p:txBody>
          <a:bodyPr/>
          <a:lstStyle/>
          <a:p>
            <a:r>
              <a:rPr lang="en-JP" dirty="0">
                <a:latin typeface="HGMaruGothicMPRO" panose="020F0600000000000000" pitchFamily="34" charset="-128"/>
                <a:ea typeface="HGMaruGothicMPRO" panose="020F0600000000000000" pitchFamily="34" charset="-128"/>
              </a:rPr>
              <a:t>USBを接続する</a:t>
            </a:r>
          </a:p>
        </p:txBody>
      </p:sp>
      <p:pic>
        <p:nvPicPr>
          <p:cNvPr id="5" name="Content Placeholder 4">
            <a:extLst>
              <a:ext uri="{FF2B5EF4-FFF2-40B4-BE49-F238E27FC236}">
                <a16:creationId xmlns:a16="http://schemas.microsoft.com/office/drawing/2014/main" id="{CD577623-0498-D5F1-0FC6-41CC132FAED8}"/>
              </a:ext>
            </a:extLst>
          </p:cNvPr>
          <p:cNvPicPr>
            <a:picLocks noGrp="1" noChangeAspect="1"/>
          </p:cNvPicPr>
          <p:nvPr>
            <p:ph idx="1"/>
          </p:nvPr>
        </p:nvPicPr>
        <p:blipFill>
          <a:blip r:embed="rId2"/>
          <a:stretch>
            <a:fillRect/>
          </a:stretch>
        </p:blipFill>
        <p:spPr>
          <a:xfrm>
            <a:off x="969340" y="1690688"/>
            <a:ext cx="5801784" cy="4351338"/>
          </a:xfrm>
          <a:prstGeom prst="rect">
            <a:avLst/>
          </a:prstGeom>
        </p:spPr>
      </p:pic>
    </p:spTree>
    <p:extLst>
      <p:ext uri="{BB962C8B-B14F-4D97-AF65-F5344CB8AC3E}">
        <p14:creationId xmlns:p14="http://schemas.microsoft.com/office/powerpoint/2010/main" val="2604557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EE931-A9D8-B450-F089-4DB640F73DC0}"/>
              </a:ext>
            </a:extLst>
          </p:cNvPr>
          <p:cNvSpPr>
            <a:spLocks noGrp="1"/>
          </p:cNvSpPr>
          <p:nvPr>
            <p:ph type="title"/>
          </p:nvPr>
        </p:nvSpPr>
        <p:spPr/>
        <p:txBody>
          <a:bodyPr/>
          <a:lstStyle/>
          <a:p>
            <a:r>
              <a:rPr lang="en-JP" dirty="0">
                <a:latin typeface="HGMaruGothicMPRO" panose="020F0600000000000000" pitchFamily="34" charset="-128"/>
                <a:ea typeface="HGMaruGothicMPRO" panose="020F0600000000000000" pitchFamily="34" charset="-128"/>
              </a:rPr>
              <a:t>1. 電源を入れる/PCを立ち上げる</a:t>
            </a:r>
          </a:p>
        </p:txBody>
      </p:sp>
      <p:sp>
        <p:nvSpPr>
          <p:cNvPr id="3" name="Content Placeholder 2">
            <a:extLst>
              <a:ext uri="{FF2B5EF4-FFF2-40B4-BE49-F238E27FC236}">
                <a16:creationId xmlns:a16="http://schemas.microsoft.com/office/drawing/2014/main" id="{794B5222-9311-4115-DAA6-C1736D5F82C0}"/>
              </a:ext>
            </a:extLst>
          </p:cNvPr>
          <p:cNvSpPr>
            <a:spLocks noGrp="1"/>
          </p:cNvSpPr>
          <p:nvPr>
            <p:ph idx="1"/>
          </p:nvPr>
        </p:nvSpPr>
        <p:spPr>
          <a:xfrm>
            <a:off x="5864772" y="1690688"/>
            <a:ext cx="3489436" cy="504496"/>
          </a:xfrm>
        </p:spPr>
        <p:txBody>
          <a:bodyPr>
            <a:normAutofit fontScale="92500"/>
          </a:bodyPr>
          <a:lstStyle/>
          <a:p>
            <a:r>
              <a:rPr lang="en-JP" dirty="0"/>
              <a:t>PIN番号:1118を入力</a:t>
            </a:r>
          </a:p>
        </p:txBody>
      </p:sp>
      <p:pic>
        <p:nvPicPr>
          <p:cNvPr id="5" name="Picture 4">
            <a:extLst>
              <a:ext uri="{FF2B5EF4-FFF2-40B4-BE49-F238E27FC236}">
                <a16:creationId xmlns:a16="http://schemas.microsoft.com/office/drawing/2014/main" id="{F201DB76-E3D4-FFC7-0CD3-AB7666B2A93D}"/>
              </a:ext>
            </a:extLst>
          </p:cNvPr>
          <p:cNvPicPr>
            <a:picLocks noChangeAspect="1"/>
          </p:cNvPicPr>
          <p:nvPr/>
        </p:nvPicPr>
        <p:blipFill>
          <a:blip r:embed="rId2"/>
          <a:stretch>
            <a:fillRect/>
          </a:stretch>
        </p:blipFill>
        <p:spPr>
          <a:xfrm>
            <a:off x="1918794" y="1403131"/>
            <a:ext cx="3338349" cy="4451131"/>
          </a:xfrm>
          <a:prstGeom prst="rect">
            <a:avLst/>
          </a:prstGeom>
        </p:spPr>
      </p:pic>
    </p:spTree>
    <p:extLst>
      <p:ext uri="{BB962C8B-B14F-4D97-AF65-F5344CB8AC3E}">
        <p14:creationId xmlns:p14="http://schemas.microsoft.com/office/powerpoint/2010/main" val="3591846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041D4-87AD-24E8-C720-4DB1D780D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70D84-FEB9-8833-1244-D68245252049}"/>
              </a:ext>
            </a:extLst>
          </p:cNvPr>
          <p:cNvSpPr>
            <a:spLocks noGrp="1"/>
          </p:cNvSpPr>
          <p:nvPr>
            <p:ph type="title"/>
          </p:nvPr>
        </p:nvSpPr>
        <p:spPr/>
        <p:txBody>
          <a:bodyPr/>
          <a:lstStyle/>
          <a:p>
            <a:r>
              <a:rPr lang="en-JP" dirty="0">
                <a:latin typeface="HGMaruGothicMPRO" panose="020F0600000000000000" pitchFamily="34" charset="-128"/>
                <a:ea typeface="HGMaruGothicMPRO" panose="020F0600000000000000" pitchFamily="34" charset="-128"/>
              </a:rPr>
              <a:t>2. ノギスのBluetoothを接続する</a:t>
            </a:r>
          </a:p>
        </p:txBody>
      </p:sp>
      <p:pic>
        <p:nvPicPr>
          <p:cNvPr id="5" name="Content Placeholder 4">
            <a:extLst>
              <a:ext uri="{FF2B5EF4-FFF2-40B4-BE49-F238E27FC236}">
                <a16:creationId xmlns:a16="http://schemas.microsoft.com/office/drawing/2014/main" id="{3AB36E60-C1E0-2059-22AE-B66339F9EB5D}"/>
              </a:ext>
            </a:extLst>
          </p:cNvPr>
          <p:cNvPicPr>
            <a:picLocks noGrp="1" noChangeAspect="1"/>
          </p:cNvPicPr>
          <p:nvPr>
            <p:ph idx="1"/>
          </p:nvPr>
        </p:nvPicPr>
        <p:blipFill>
          <a:blip r:embed="rId2"/>
          <a:srcRect l="64130" t="37078"/>
          <a:stretch>
            <a:fillRect/>
          </a:stretch>
        </p:blipFill>
        <p:spPr>
          <a:xfrm>
            <a:off x="701444" y="1774771"/>
            <a:ext cx="3415415" cy="3994092"/>
          </a:xfrm>
          <a:prstGeom prst="rect">
            <a:avLst/>
          </a:prstGeom>
        </p:spPr>
      </p:pic>
      <p:sp>
        <p:nvSpPr>
          <p:cNvPr id="6" name="Content Placeholder 2">
            <a:extLst>
              <a:ext uri="{FF2B5EF4-FFF2-40B4-BE49-F238E27FC236}">
                <a16:creationId xmlns:a16="http://schemas.microsoft.com/office/drawing/2014/main" id="{CAC7D23B-4CA5-4808-52DE-6D030D129E8E}"/>
              </a:ext>
            </a:extLst>
          </p:cNvPr>
          <p:cNvSpPr txBox="1">
            <a:spLocks/>
          </p:cNvSpPr>
          <p:nvPr/>
        </p:nvSpPr>
        <p:spPr>
          <a:xfrm>
            <a:off x="4299447" y="1606605"/>
            <a:ext cx="5248590" cy="16542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dirty="0"/>
              <a:t>[Bluetooth Keyboard]という名前でノギスがBluetoothで接続されているかを確認する</a:t>
            </a:r>
          </a:p>
        </p:txBody>
      </p:sp>
      <p:pic>
        <p:nvPicPr>
          <p:cNvPr id="8" name="Picture 7">
            <a:extLst>
              <a:ext uri="{FF2B5EF4-FFF2-40B4-BE49-F238E27FC236}">
                <a16:creationId xmlns:a16="http://schemas.microsoft.com/office/drawing/2014/main" id="{C1B9968B-0CB6-4A74-7408-E31D403CB4AF}"/>
              </a:ext>
            </a:extLst>
          </p:cNvPr>
          <p:cNvPicPr>
            <a:picLocks noChangeAspect="1"/>
          </p:cNvPicPr>
          <p:nvPr/>
        </p:nvPicPr>
        <p:blipFill>
          <a:blip r:embed="rId3"/>
          <a:stretch>
            <a:fillRect/>
          </a:stretch>
        </p:blipFill>
        <p:spPr>
          <a:xfrm>
            <a:off x="5435161" y="3597166"/>
            <a:ext cx="2053458" cy="2737944"/>
          </a:xfrm>
          <a:prstGeom prst="rect">
            <a:avLst/>
          </a:prstGeom>
        </p:spPr>
      </p:pic>
      <p:sp>
        <p:nvSpPr>
          <p:cNvPr id="10" name="Content Placeholder 2">
            <a:extLst>
              <a:ext uri="{FF2B5EF4-FFF2-40B4-BE49-F238E27FC236}">
                <a16:creationId xmlns:a16="http://schemas.microsoft.com/office/drawing/2014/main" id="{0F57828E-84F7-966D-D101-1B4CC81B7E2A}"/>
              </a:ext>
            </a:extLst>
          </p:cNvPr>
          <p:cNvSpPr txBox="1">
            <a:spLocks/>
          </p:cNvSpPr>
          <p:nvPr/>
        </p:nvSpPr>
        <p:spPr>
          <a:xfrm>
            <a:off x="7567448" y="3607677"/>
            <a:ext cx="4056993" cy="17094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B</a:t>
            </a:r>
            <a:r>
              <a:rPr lang="en-JP" dirty="0"/>
              <a:t>luetoothが接続されていない場合、ノギスの無線ボタンを長押し</a:t>
            </a:r>
          </a:p>
        </p:txBody>
      </p:sp>
      <p:sp>
        <p:nvSpPr>
          <p:cNvPr id="11" name="Oval 10">
            <a:extLst>
              <a:ext uri="{FF2B5EF4-FFF2-40B4-BE49-F238E27FC236}">
                <a16:creationId xmlns:a16="http://schemas.microsoft.com/office/drawing/2014/main" id="{FC9929D9-036B-40EE-1FB3-DE281855F608}"/>
              </a:ext>
            </a:extLst>
          </p:cNvPr>
          <p:cNvSpPr/>
          <p:nvPr/>
        </p:nvSpPr>
        <p:spPr>
          <a:xfrm>
            <a:off x="6527969" y="4824720"/>
            <a:ext cx="539278" cy="546866"/>
          </a:xfrm>
          <a:prstGeom prst="ellipse">
            <a:avLst/>
          </a:prstGeom>
          <a:noFill/>
          <a:ln w="825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Tree>
    <p:extLst>
      <p:ext uri="{BB962C8B-B14F-4D97-AF65-F5344CB8AC3E}">
        <p14:creationId xmlns:p14="http://schemas.microsoft.com/office/powerpoint/2010/main" val="2691426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10940-C6BD-C287-070C-089E2543E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79E22-08AA-64C6-1102-45D82D07E962}"/>
              </a:ext>
            </a:extLst>
          </p:cNvPr>
          <p:cNvSpPr>
            <a:spLocks noGrp="1"/>
          </p:cNvSpPr>
          <p:nvPr>
            <p:ph type="title"/>
          </p:nvPr>
        </p:nvSpPr>
        <p:spPr/>
        <p:txBody>
          <a:bodyPr/>
          <a:lstStyle/>
          <a:p>
            <a:r>
              <a:rPr lang="en-JP" dirty="0">
                <a:latin typeface="HGMaruGothicMPRO" panose="020F0600000000000000" pitchFamily="34" charset="-128"/>
                <a:ea typeface="HGMaruGothicMPRO" panose="020F0600000000000000" pitchFamily="34" charset="-128"/>
              </a:rPr>
              <a:t>3. アプリを起動する</a:t>
            </a:r>
          </a:p>
        </p:txBody>
      </p:sp>
      <p:pic>
        <p:nvPicPr>
          <p:cNvPr id="5" name="Picture 4">
            <a:extLst>
              <a:ext uri="{FF2B5EF4-FFF2-40B4-BE49-F238E27FC236}">
                <a16:creationId xmlns:a16="http://schemas.microsoft.com/office/drawing/2014/main" id="{005D75FA-97CF-85B1-0934-D127FEFB32DA}"/>
              </a:ext>
            </a:extLst>
          </p:cNvPr>
          <p:cNvPicPr>
            <a:picLocks noChangeAspect="1"/>
          </p:cNvPicPr>
          <p:nvPr/>
        </p:nvPicPr>
        <p:blipFill>
          <a:blip r:embed="rId2"/>
          <a:stretch>
            <a:fillRect/>
          </a:stretch>
        </p:blipFill>
        <p:spPr>
          <a:xfrm>
            <a:off x="945930" y="1393889"/>
            <a:ext cx="7459293" cy="4972862"/>
          </a:xfrm>
          <a:prstGeom prst="rect">
            <a:avLst/>
          </a:prstGeom>
        </p:spPr>
      </p:pic>
      <p:sp>
        <p:nvSpPr>
          <p:cNvPr id="6" name="Oval 5">
            <a:extLst>
              <a:ext uri="{FF2B5EF4-FFF2-40B4-BE49-F238E27FC236}">
                <a16:creationId xmlns:a16="http://schemas.microsoft.com/office/drawing/2014/main" id="{2356DF75-3171-F6BA-1CB5-AB13A77B7405}"/>
              </a:ext>
            </a:extLst>
          </p:cNvPr>
          <p:cNvSpPr/>
          <p:nvPr/>
        </p:nvSpPr>
        <p:spPr>
          <a:xfrm>
            <a:off x="3993931" y="1690688"/>
            <a:ext cx="776239" cy="672990"/>
          </a:xfrm>
          <a:prstGeom prst="ellipse">
            <a:avLst/>
          </a:prstGeom>
          <a:noFill/>
          <a:ln w="1206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7" name="Content Placeholder 2">
            <a:extLst>
              <a:ext uri="{FF2B5EF4-FFF2-40B4-BE49-F238E27FC236}">
                <a16:creationId xmlns:a16="http://schemas.microsoft.com/office/drawing/2014/main" id="{D474C38D-960B-8133-59E9-F0E7C44514E3}"/>
              </a:ext>
            </a:extLst>
          </p:cNvPr>
          <p:cNvSpPr txBox="1">
            <a:spLocks/>
          </p:cNvSpPr>
          <p:nvPr/>
        </p:nvSpPr>
        <p:spPr>
          <a:xfrm>
            <a:off x="8512954" y="1600458"/>
            <a:ext cx="3463456" cy="17094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dirty="0"/>
              <a:t>「音速測定ノギス」</a:t>
            </a:r>
          </a:p>
          <a:p>
            <a:pPr marL="0" indent="0">
              <a:buNone/>
            </a:pPr>
            <a:r>
              <a:rPr lang="en-JP" dirty="0"/>
              <a:t>アプリをダブルタップで起動</a:t>
            </a:r>
          </a:p>
        </p:txBody>
      </p:sp>
      <p:cxnSp>
        <p:nvCxnSpPr>
          <p:cNvPr id="9" name="Straight Arrow Connector 8">
            <a:extLst>
              <a:ext uri="{FF2B5EF4-FFF2-40B4-BE49-F238E27FC236}">
                <a16:creationId xmlns:a16="http://schemas.microsoft.com/office/drawing/2014/main" id="{FC222B4F-77E3-E95E-21F4-8F6EFED6221C}"/>
              </a:ext>
            </a:extLst>
          </p:cNvPr>
          <p:cNvCxnSpPr/>
          <p:nvPr/>
        </p:nvCxnSpPr>
        <p:spPr>
          <a:xfrm flipH="1">
            <a:off x="7515922" y="5620215"/>
            <a:ext cx="1717288" cy="52410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5F8B95C9-CA70-0FBF-FB6D-7700B5A1A03F}"/>
              </a:ext>
            </a:extLst>
          </p:cNvPr>
          <p:cNvSpPr txBox="1">
            <a:spLocks/>
          </p:cNvSpPr>
          <p:nvPr/>
        </p:nvSpPr>
        <p:spPr>
          <a:xfrm>
            <a:off x="8851208" y="5096108"/>
            <a:ext cx="2625256" cy="52410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dirty="0"/>
              <a:t>半角入力にする</a:t>
            </a:r>
          </a:p>
        </p:txBody>
      </p:sp>
    </p:spTree>
    <p:extLst>
      <p:ext uri="{BB962C8B-B14F-4D97-AF65-F5344CB8AC3E}">
        <p14:creationId xmlns:p14="http://schemas.microsoft.com/office/powerpoint/2010/main" val="4142272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56FF3-274A-308D-5572-6236EF7C9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93F36-EC98-47E3-285A-62C1E5216B0D}"/>
              </a:ext>
            </a:extLst>
          </p:cNvPr>
          <p:cNvSpPr>
            <a:spLocks noGrp="1"/>
          </p:cNvSpPr>
          <p:nvPr>
            <p:ph type="title"/>
          </p:nvPr>
        </p:nvSpPr>
        <p:spPr/>
        <p:txBody>
          <a:bodyPr/>
          <a:lstStyle/>
          <a:p>
            <a:r>
              <a:rPr lang="en-JP" dirty="0">
                <a:latin typeface="HGMaruGothicMPRO" panose="020F0600000000000000" pitchFamily="34" charset="-128"/>
                <a:ea typeface="HGMaruGothicMPRO" panose="020F0600000000000000" pitchFamily="34" charset="-128"/>
              </a:rPr>
              <a:t>4. 参照波形を取得する</a:t>
            </a:r>
          </a:p>
        </p:txBody>
      </p:sp>
      <p:pic>
        <p:nvPicPr>
          <p:cNvPr id="5" name="Content Placeholder 4">
            <a:extLst>
              <a:ext uri="{FF2B5EF4-FFF2-40B4-BE49-F238E27FC236}">
                <a16:creationId xmlns:a16="http://schemas.microsoft.com/office/drawing/2014/main" id="{DDF81E0F-4C7E-CC77-FD77-6497D4784282}"/>
              </a:ext>
            </a:extLst>
          </p:cNvPr>
          <p:cNvPicPr>
            <a:picLocks noGrp="1" noChangeAspect="1"/>
          </p:cNvPicPr>
          <p:nvPr>
            <p:ph idx="1"/>
          </p:nvPr>
        </p:nvPicPr>
        <p:blipFill>
          <a:blip r:embed="rId2"/>
          <a:stretch>
            <a:fillRect/>
          </a:stretch>
        </p:blipFill>
        <p:spPr>
          <a:xfrm>
            <a:off x="1116981" y="1590327"/>
            <a:ext cx="5869172" cy="3912781"/>
          </a:xfrm>
          <a:prstGeom prst="rect">
            <a:avLst/>
          </a:prstGeom>
        </p:spPr>
      </p:pic>
      <p:pic>
        <p:nvPicPr>
          <p:cNvPr id="7" name="Picture 6">
            <a:extLst>
              <a:ext uri="{FF2B5EF4-FFF2-40B4-BE49-F238E27FC236}">
                <a16:creationId xmlns:a16="http://schemas.microsoft.com/office/drawing/2014/main" id="{AED0B28A-636E-7FC8-CE88-58F265A50D16}"/>
              </a:ext>
            </a:extLst>
          </p:cNvPr>
          <p:cNvPicPr>
            <a:picLocks noChangeAspect="1"/>
          </p:cNvPicPr>
          <p:nvPr/>
        </p:nvPicPr>
        <p:blipFill>
          <a:blip r:embed="rId3"/>
          <a:stretch>
            <a:fillRect/>
          </a:stretch>
        </p:blipFill>
        <p:spPr>
          <a:xfrm>
            <a:off x="7733285" y="786180"/>
            <a:ext cx="2759927" cy="3679902"/>
          </a:xfrm>
          <a:prstGeom prst="rect">
            <a:avLst/>
          </a:prstGeom>
        </p:spPr>
      </p:pic>
      <p:sp>
        <p:nvSpPr>
          <p:cNvPr id="8" name="Content Placeholder 2">
            <a:extLst>
              <a:ext uri="{FF2B5EF4-FFF2-40B4-BE49-F238E27FC236}">
                <a16:creationId xmlns:a16="http://schemas.microsoft.com/office/drawing/2014/main" id="{E3A51C54-28E9-ACA6-CA6A-5B312FE1ECC0}"/>
              </a:ext>
            </a:extLst>
          </p:cNvPr>
          <p:cNvSpPr txBox="1">
            <a:spLocks/>
          </p:cNvSpPr>
          <p:nvPr/>
        </p:nvSpPr>
        <p:spPr>
          <a:xfrm>
            <a:off x="6986153" y="4648404"/>
            <a:ext cx="5111364" cy="142341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dirty="0"/>
              <a:t>センサにエコーゼリーを塗布、ノギスの距離を0.00にした状態で</a:t>
            </a:r>
          </a:p>
          <a:p>
            <a:pPr marL="0" indent="0">
              <a:buNone/>
            </a:pPr>
            <a:r>
              <a:rPr lang="en-JP" dirty="0"/>
              <a:t>「参照波形を取得」をタップ</a:t>
            </a:r>
          </a:p>
        </p:txBody>
      </p:sp>
      <p:sp>
        <p:nvSpPr>
          <p:cNvPr id="10" name="Rectangle 9">
            <a:extLst>
              <a:ext uri="{FF2B5EF4-FFF2-40B4-BE49-F238E27FC236}">
                <a16:creationId xmlns:a16="http://schemas.microsoft.com/office/drawing/2014/main" id="{5BD0EBCD-86DE-BAAA-C3B5-0786BF6E5BB2}"/>
              </a:ext>
            </a:extLst>
          </p:cNvPr>
          <p:cNvSpPr/>
          <p:nvPr/>
        </p:nvSpPr>
        <p:spPr>
          <a:xfrm>
            <a:off x="1116981" y="1940312"/>
            <a:ext cx="1916151" cy="524108"/>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816227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661BD-9B2C-1A8E-7F69-FD0C4115E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C1FB5-DC39-3381-DCF2-18A860D292E2}"/>
              </a:ext>
            </a:extLst>
          </p:cNvPr>
          <p:cNvSpPr>
            <a:spLocks noGrp="1"/>
          </p:cNvSpPr>
          <p:nvPr>
            <p:ph type="title"/>
          </p:nvPr>
        </p:nvSpPr>
        <p:spPr/>
        <p:txBody>
          <a:bodyPr/>
          <a:lstStyle/>
          <a:p>
            <a:r>
              <a:rPr lang="en-JP" dirty="0">
                <a:latin typeface="HGMaruGothicMPRO" panose="020F0600000000000000" pitchFamily="34" charset="-128"/>
                <a:ea typeface="HGMaruGothicMPRO" panose="020F0600000000000000" pitchFamily="34" charset="-128"/>
              </a:rPr>
              <a:t>5. 音速を測定する</a:t>
            </a:r>
          </a:p>
        </p:txBody>
      </p:sp>
      <p:pic>
        <p:nvPicPr>
          <p:cNvPr id="5" name="Content Placeholder 4">
            <a:extLst>
              <a:ext uri="{FF2B5EF4-FFF2-40B4-BE49-F238E27FC236}">
                <a16:creationId xmlns:a16="http://schemas.microsoft.com/office/drawing/2014/main" id="{39B83C7E-AE10-0CCE-276F-A49120C873FB}"/>
              </a:ext>
            </a:extLst>
          </p:cNvPr>
          <p:cNvPicPr>
            <a:picLocks noGrp="1" noChangeAspect="1"/>
          </p:cNvPicPr>
          <p:nvPr>
            <p:ph idx="1"/>
          </p:nvPr>
        </p:nvPicPr>
        <p:blipFill>
          <a:blip r:embed="rId2"/>
          <a:stretch>
            <a:fillRect/>
          </a:stretch>
        </p:blipFill>
        <p:spPr>
          <a:xfrm>
            <a:off x="1074278" y="1676235"/>
            <a:ext cx="3263503" cy="4351338"/>
          </a:xfrm>
          <a:prstGeom prst="rect">
            <a:avLst/>
          </a:prstGeom>
        </p:spPr>
      </p:pic>
      <p:pic>
        <p:nvPicPr>
          <p:cNvPr id="6" name="Picture 5">
            <a:extLst>
              <a:ext uri="{FF2B5EF4-FFF2-40B4-BE49-F238E27FC236}">
                <a16:creationId xmlns:a16="http://schemas.microsoft.com/office/drawing/2014/main" id="{F24D904C-4254-1624-7DC7-234D7B6FBFED}"/>
              </a:ext>
            </a:extLst>
          </p:cNvPr>
          <p:cNvPicPr>
            <a:picLocks noChangeAspect="1"/>
          </p:cNvPicPr>
          <p:nvPr/>
        </p:nvPicPr>
        <p:blipFill>
          <a:blip r:embed="rId3"/>
          <a:stretch>
            <a:fillRect/>
          </a:stretch>
        </p:blipFill>
        <p:spPr>
          <a:xfrm>
            <a:off x="4337781" y="1676235"/>
            <a:ext cx="2053458" cy="2737944"/>
          </a:xfrm>
          <a:prstGeom prst="rect">
            <a:avLst/>
          </a:prstGeom>
        </p:spPr>
      </p:pic>
      <p:sp>
        <p:nvSpPr>
          <p:cNvPr id="7" name="Oval 6">
            <a:extLst>
              <a:ext uri="{FF2B5EF4-FFF2-40B4-BE49-F238E27FC236}">
                <a16:creationId xmlns:a16="http://schemas.microsoft.com/office/drawing/2014/main" id="{7DEA994B-EA0D-DE11-ED03-4A4BF0AB9922}"/>
              </a:ext>
            </a:extLst>
          </p:cNvPr>
          <p:cNvSpPr/>
          <p:nvPr/>
        </p:nvSpPr>
        <p:spPr>
          <a:xfrm>
            <a:off x="5430589" y="2903789"/>
            <a:ext cx="539278" cy="546866"/>
          </a:xfrm>
          <a:prstGeom prst="ellipse">
            <a:avLst/>
          </a:prstGeom>
          <a:noFill/>
          <a:ln w="825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8" name="Content Placeholder 2">
            <a:extLst>
              <a:ext uri="{FF2B5EF4-FFF2-40B4-BE49-F238E27FC236}">
                <a16:creationId xmlns:a16="http://schemas.microsoft.com/office/drawing/2014/main" id="{AD4F5C00-2ABC-F119-E76F-72508F2D4746}"/>
              </a:ext>
            </a:extLst>
          </p:cNvPr>
          <p:cNvSpPr txBox="1">
            <a:spLocks/>
          </p:cNvSpPr>
          <p:nvPr/>
        </p:nvSpPr>
        <p:spPr>
          <a:xfrm>
            <a:off x="6751733" y="1690688"/>
            <a:ext cx="4812753" cy="302627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dirty="0"/>
              <a:t>測定したい部分にエコーゼリーを塗布した上でセンサ部で挟み込み、ノギスの無線ボタンを押して音速を計測</a:t>
            </a:r>
          </a:p>
          <a:p>
            <a:pPr marL="0" indent="0">
              <a:buNone/>
            </a:pPr>
            <a:endParaRPr lang="en-JP" dirty="0"/>
          </a:p>
          <a:p>
            <a:pPr marL="0" indent="0">
              <a:buNone/>
            </a:pPr>
            <a:r>
              <a:rPr lang="en-JP" dirty="0"/>
              <a:t>以降、ノギスの無線ボタンを押すことで音速を計測できるようになります</a:t>
            </a:r>
          </a:p>
          <a:p>
            <a:pPr marL="0" indent="0">
              <a:buNone/>
            </a:pPr>
            <a:endParaRPr lang="en-JP" dirty="0"/>
          </a:p>
        </p:txBody>
      </p:sp>
    </p:spTree>
    <p:extLst>
      <p:ext uri="{BB962C8B-B14F-4D97-AF65-F5344CB8AC3E}">
        <p14:creationId xmlns:p14="http://schemas.microsoft.com/office/powerpoint/2010/main" val="2341659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D5995-E9EE-0A08-972D-3892A396F7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04BE41-812B-782F-6899-7D7A8F08F7F0}"/>
              </a:ext>
            </a:extLst>
          </p:cNvPr>
          <p:cNvSpPr>
            <a:spLocks noGrp="1"/>
          </p:cNvSpPr>
          <p:nvPr>
            <p:ph type="title"/>
          </p:nvPr>
        </p:nvSpPr>
        <p:spPr/>
        <p:txBody>
          <a:bodyPr/>
          <a:lstStyle/>
          <a:p>
            <a:r>
              <a:rPr lang="en-JP" dirty="0">
                <a:latin typeface="HGMaruGothicMPRO" panose="020F0600000000000000" pitchFamily="34" charset="-128"/>
                <a:ea typeface="HGMaruGothicMPRO" panose="020F0600000000000000" pitchFamily="34" charset="-128"/>
              </a:rPr>
              <a:t>アプリの使い方</a:t>
            </a:r>
          </a:p>
        </p:txBody>
      </p:sp>
      <p:pic>
        <p:nvPicPr>
          <p:cNvPr id="5" name="Content Placeholder 4">
            <a:extLst>
              <a:ext uri="{FF2B5EF4-FFF2-40B4-BE49-F238E27FC236}">
                <a16:creationId xmlns:a16="http://schemas.microsoft.com/office/drawing/2014/main" id="{037D10A8-E4A1-D899-35AA-E8C8CC76258B}"/>
              </a:ext>
            </a:extLst>
          </p:cNvPr>
          <p:cNvPicPr>
            <a:picLocks noGrp="1" noChangeAspect="1"/>
          </p:cNvPicPr>
          <p:nvPr>
            <p:ph idx="1"/>
          </p:nvPr>
        </p:nvPicPr>
        <p:blipFill>
          <a:blip r:embed="rId2"/>
          <a:stretch>
            <a:fillRect/>
          </a:stretch>
        </p:blipFill>
        <p:spPr>
          <a:xfrm>
            <a:off x="838200" y="1690688"/>
            <a:ext cx="6527007" cy="4351338"/>
          </a:xfrm>
          <a:prstGeom prst="rect">
            <a:avLst/>
          </a:prstGeom>
        </p:spPr>
      </p:pic>
      <p:sp>
        <p:nvSpPr>
          <p:cNvPr id="6" name="TextBox 5">
            <a:extLst>
              <a:ext uri="{FF2B5EF4-FFF2-40B4-BE49-F238E27FC236}">
                <a16:creationId xmlns:a16="http://schemas.microsoft.com/office/drawing/2014/main" id="{303C1AEB-F611-8C0F-54E3-57453FC11579}"/>
              </a:ext>
            </a:extLst>
          </p:cNvPr>
          <p:cNvSpPr txBox="1"/>
          <p:nvPr/>
        </p:nvSpPr>
        <p:spPr>
          <a:xfrm>
            <a:off x="960778" y="2117609"/>
            <a:ext cx="357790" cy="369332"/>
          </a:xfrm>
          <a:prstGeom prst="rect">
            <a:avLst/>
          </a:prstGeom>
          <a:noFill/>
        </p:spPr>
        <p:txBody>
          <a:bodyPr wrap="none" rtlCol="0">
            <a:spAutoFit/>
          </a:bodyPr>
          <a:lstStyle/>
          <a:p>
            <a:r>
              <a:rPr lang="en-JP" dirty="0"/>
              <a:t>①</a:t>
            </a:r>
          </a:p>
        </p:txBody>
      </p:sp>
      <p:sp>
        <p:nvSpPr>
          <p:cNvPr id="7" name="TextBox 6">
            <a:extLst>
              <a:ext uri="{FF2B5EF4-FFF2-40B4-BE49-F238E27FC236}">
                <a16:creationId xmlns:a16="http://schemas.microsoft.com/office/drawing/2014/main" id="{C66CF9CA-30A7-5449-BA64-3780770D885E}"/>
              </a:ext>
            </a:extLst>
          </p:cNvPr>
          <p:cNvSpPr txBox="1"/>
          <p:nvPr/>
        </p:nvSpPr>
        <p:spPr>
          <a:xfrm>
            <a:off x="6666485" y="2117609"/>
            <a:ext cx="357790" cy="369332"/>
          </a:xfrm>
          <a:prstGeom prst="rect">
            <a:avLst/>
          </a:prstGeom>
          <a:noFill/>
        </p:spPr>
        <p:txBody>
          <a:bodyPr wrap="none" rtlCol="0">
            <a:spAutoFit/>
          </a:bodyPr>
          <a:lstStyle/>
          <a:p>
            <a:r>
              <a:rPr lang="en-JP" dirty="0"/>
              <a:t>②</a:t>
            </a:r>
          </a:p>
        </p:txBody>
      </p:sp>
      <p:sp>
        <p:nvSpPr>
          <p:cNvPr id="8" name="TextBox 7">
            <a:extLst>
              <a:ext uri="{FF2B5EF4-FFF2-40B4-BE49-F238E27FC236}">
                <a16:creationId xmlns:a16="http://schemas.microsoft.com/office/drawing/2014/main" id="{77B87B18-5A71-BF13-133B-F5251A1E6211}"/>
              </a:ext>
            </a:extLst>
          </p:cNvPr>
          <p:cNvSpPr txBox="1"/>
          <p:nvPr/>
        </p:nvSpPr>
        <p:spPr>
          <a:xfrm>
            <a:off x="1139673" y="3681691"/>
            <a:ext cx="357790" cy="369332"/>
          </a:xfrm>
          <a:prstGeom prst="rect">
            <a:avLst/>
          </a:prstGeom>
          <a:noFill/>
        </p:spPr>
        <p:txBody>
          <a:bodyPr wrap="none" rtlCol="0">
            <a:spAutoFit/>
          </a:bodyPr>
          <a:lstStyle/>
          <a:p>
            <a:r>
              <a:rPr lang="en-JP" dirty="0"/>
              <a:t>③</a:t>
            </a:r>
          </a:p>
        </p:txBody>
      </p:sp>
      <p:sp>
        <p:nvSpPr>
          <p:cNvPr id="9" name="TextBox 8">
            <a:extLst>
              <a:ext uri="{FF2B5EF4-FFF2-40B4-BE49-F238E27FC236}">
                <a16:creationId xmlns:a16="http://schemas.microsoft.com/office/drawing/2014/main" id="{BB0D0E4B-26C9-D358-6495-64CD05E1747C}"/>
              </a:ext>
            </a:extLst>
          </p:cNvPr>
          <p:cNvSpPr txBox="1"/>
          <p:nvPr/>
        </p:nvSpPr>
        <p:spPr>
          <a:xfrm>
            <a:off x="3455841" y="2117609"/>
            <a:ext cx="357790" cy="369332"/>
          </a:xfrm>
          <a:prstGeom prst="rect">
            <a:avLst/>
          </a:prstGeom>
          <a:noFill/>
        </p:spPr>
        <p:txBody>
          <a:bodyPr wrap="none" rtlCol="0">
            <a:spAutoFit/>
          </a:bodyPr>
          <a:lstStyle/>
          <a:p>
            <a:r>
              <a:rPr lang="en-JP" dirty="0"/>
              <a:t>④</a:t>
            </a:r>
          </a:p>
        </p:txBody>
      </p:sp>
      <p:sp>
        <p:nvSpPr>
          <p:cNvPr id="10" name="Content Placeholder 2">
            <a:extLst>
              <a:ext uri="{FF2B5EF4-FFF2-40B4-BE49-F238E27FC236}">
                <a16:creationId xmlns:a16="http://schemas.microsoft.com/office/drawing/2014/main" id="{7D382BF2-AC81-5EB0-F5F9-FF2A9435F4B5}"/>
              </a:ext>
            </a:extLst>
          </p:cNvPr>
          <p:cNvSpPr txBox="1">
            <a:spLocks/>
          </p:cNvSpPr>
          <p:nvPr/>
        </p:nvSpPr>
        <p:spPr>
          <a:xfrm>
            <a:off x="7365207" y="1690687"/>
            <a:ext cx="4812753" cy="435133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JP" dirty="0"/>
              <a:t>アプリ起動後に1回、①「参照波形を取得」することで計測可能になる</a:t>
            </a:r>
          </a:p>
          <a:p>
            <a:r>
              <a:rPr lang="en-JP" dirty="0"/>
              <a:t>②「距離」欄がハイライトされている状態でノギスの無線ボタンを押して音速を計測</a:t>
            </a:r>
          </a:p>
          <a:p>
            <a:r>
              <a:rPr lang="en-JP" dirty="0"/>
              <a:t>取得波形を③に表示、オレンジ色の波のサイズがオレンジ色の破線に近い大きさに、</a:t>
            </a:r>
            <a:br>
              <a:rPr lang="en-JP" dirty="0"/>
            </a:br>
            <a:r>
              <a:rPr lang="en-JP" dirty="0"/>
              <a:t>④の±ボタンで調整して下さい</a:t>
            </a:r>
          </a:p>
          <a:p>
            <a:endParaRPr lang="en-JP" dirty="0"/>
          </a:p>
        </p:txBody>
      </p:sp>
    </p:spTree>
    <p:extLst>
      <p:ext uri="{BB962C8B-B14F-4D97-AF65-F5344CB8AC3E}">
        <p14:creationId xmlns:p14="http://schemas.microsoft.com/office/powerpoint/2010/main" val="2011576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1523</TotalTime>
  <Words>102</Words>
  <Application>Microsoft Macintosh PowerPoint</Application>
  <PresentationFormat>Widescreen</PresentationFormat>
  <Paragraphs>28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HGMaruGothicMPRO</vt:lpstr>
      <vt:lpstr>Aptos</vt:lpstr>
      <vt:lpstr>Aptos Display</vt:lpstr>
      <vt:lpstr>Arial</vt:lpstr>
      <vt:lpstr>Times New Roman</vt:lpstr>
      <vt:lpstr>Office Theme</vt:lpstr>
      <vt:lpstr>音速測定ノギス 使い方</vt:lpstr>
      <vt:lpstr>配線の接続</vt:lpstr>
      <vt:lpstr>USBを接続する</vt:lpstr>
      <vt:lpstr>1. 電源を入れる/PCを立ち上げる</vt:lpstr>
      <vt:lpstr>2. ノギスのBluetoothを接続する</vt:lpstr>
      <vt:lpstr>3. アプリを起動する</vt:lpstr>
      <vt:lpstr>4. 参照波形を取得する</vt:lpstr>
      <vt:lpstr>5. 音速を測定する</vt:lpstr>
      <vt:lpstr>アプリの使い方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油田 崚市</dc:creator>
  <cp:lastModifiedBy>油田 崚市</cp:lastModifiedBy>
  <cp:revision>10</cp:revision>
  <dcterms:created xsi:type="dcterms:W3CDTF">2026-09-09T07:43:59Z</dcterms:created>
  <dcterms:modified xsi:type="dcterms:W3CDTF">2026-10-07T02:37:02Z</dcterms:modified>
</cp:coreProperties>
</file>